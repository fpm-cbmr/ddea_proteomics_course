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646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4DB6AC">
              <a:alpha val="20000"/>
            </a:srgbClr>
          </a:solidFill>
          <a:ln w="12700">
            <a:solidFill>
              <a:srgbClr val="4DB6A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Differential Abundance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UMAP · MILO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DDEA Proteomics Course — Hands-On Tutorial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Muscle Fiber Proteomics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Intensities to Biology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methods, one analytical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02825" y="2103120"/>
            <a:ext cx="1737360" cy="146304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02825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Matrix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2825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× fibers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log2, normalized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58473" y="2834640"/>
            <a:ext cx="192024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2768785" y="2103120"/>
            <a:ext cx="1737360" cy="1463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768785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768785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decomposition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scores + loadings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24433" y="2834640"/>
            <a:ext cx="192024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4734745" y="2103120"/>
            <a:ext cx="1737360" cy="1463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4734745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734745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embedding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fiber-state map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90393" y="2834640"/>
            <a:ext cx="192024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4"/>
          <p:cNvSpPr/>
          <p:nvPr/>
        </p:nvSpPr>
        <p:spPr>
          <a:xfrm>
            <a:off x="6700705" y="2103120"/>
            <a:ext cx="1737360" cy="1463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5"/>
          <p:cNvSpPr/>
          <p:nvPr/>
        </p:nvSpPr>
        <p:spPr>
          <a:xfrm>
            <a:off x="6700705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700705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abundance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57200" y="387014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denoises → UMAP visualises → MILO tests. Each step builds on the previous.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4114800" cy="109728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0700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05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13258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Proteins × fibers matrix (transposed for prcomp)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protein scaled to unit variance (scale. = TRUE)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62359" y="2167128"/>
            <a:ext cx="4114800" cy="109728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519" y="2459736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56719" y="2258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PCA finds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56719" y="25786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axes (PCs) ordered by variance explained.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= direction of maximum spread across all proteins.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11480" y="3419856"/>
            <a:ext cx="4114800" cy="109728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1246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5112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outputs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05840" y="383133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pca_res$x — scores: where each fiber sits on each PC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pca_res$rotation — loadings: protein contributions to each PC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11480" y="4663440"/>
            <a:ext cx="8275320" cy="347472"/>
          </a:xfrm>
          <a:prstGeom prst="rect">
            <a:avLst/>
          </a:prstGeom>
          <a:solidFill>
            <a:srgbClr val="FBE9E7"/>
          </a:solidFill>
          <a:ln w="1270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502920" y="4690872"/>
            <a:ext cx="8092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assumption: PCA is linear. Non-linear structure may be smeared — motivation for UMAP.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— 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4023360" cy="2057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Graph Construction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sample, find its k nearest neighbors in PC space (not raw protein space — PCs denoise first).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fuzzy weighted graph: close neighbors get high edge weights; distant ones get low weights.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n.neighbors controls neighborhood size — local vs. global trade-off.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2057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2D Layout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2D arrangement that preserves the graph structure as well as possible.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by gradient descent (minimising cross-entropy between high-D and 2D fuzzy graphs).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samples that were neighbors in PC space land near each other in 2D.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737360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1480" y="3200400"/>
            <a:ext cx="2651760" cy="16916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21208" y="329184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n.neighbors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" y="3657600"/>
            <a:ext cx="2432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(5) → fragmented islands, local detail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(100) → smooth, global, PCA-like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91840" y="3200400"/>
            <a:ext cx="2651760" cy="16916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401568" y="329184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01568" y="3657600"/>
            <a:ext cx="2432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PCs feed into the graph.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scree plot to pick — stop where variance flattens.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72200" y="3200400"/>
            <a:ext cx="2651760" cy="1691640"/>
          </a:xfrm>
          <a:prstGeom prst="rect">
            <a:avLst/>
          </a:prstGeom>
          <a:solidFill>
            <a:srgbClr val="FBE9E7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281928" y="3291840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81928" y="3657600"/>
            <a:ext cx="2432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is stochastic. Topology is fixed; the 2D rotation is not.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seed for reproducibility.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— What the Plot Can and Cannot Tell You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3931920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393192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UMAP CAN tell you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533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discrete sub-populations that PCA shows only as gradients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1284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1762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which samples are proteomically similar (local neighborhoods)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3580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9992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fiber-type clusters using marker proteins (MYH7, MYH2, ACTN3)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5876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822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clustering (Louvain on kNN graph) and downstream MILO testing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754880" y="868680"/>
            <a:ext cx="3931920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0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1"/>
          <p:cNvSpPr/>
          <p:nvPr/>
        </p:nvSpPr>
        <p:spPr>
          <a:xfrm>
            <a:off x="489204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UMAP CANNOT tell you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8988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57800" y="13533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between clusters are NOT quantitative — far apart ≠ globally different</a:t>
            </a:r>
            <a:endParaRPr lang="en-US" sz="10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12848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57800" y="21762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size does NOT reflect abundance — large ≠ more common</a:t>
            </a:r>
            <a:endParaRPr lang="en-US" sz="10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35808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57800" y="299923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values have no biological meaning (not PCs, not concentrations)</a:t>
            </a:r>
            <a:endParaRPr lang="en-US" sz="10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858768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57800" y="38221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UMAP plots with different parameters are NOT directly comparable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— The Core Question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8275320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distribution of samples across proteomic states change between conditions?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3931920" cy="3246120"/>
          </a:xfrm>
          <a:prstGeom prst="rect">
            <a:avLst/>
          </a:prstGeom>
          <a:solidFill>
            <a:srgbClr val="FBE9E7"/>
          </a:solidFill>
          <a:ln w="1905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count samples per cluster?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clustering forces a binary decision.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fiber sitting on the boundary between slow and fast gets assigned to one cluster — its evidence is lost to the other.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fibers are often the most biologically interesting: they may represent transitional states induced by training.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3931920" cy="3246120"/>
          </a:xfrm>
          <a:prstGeom prst="rect">
            <a:avLst/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892040" y="1801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MILO's solution: neighbourhoods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22402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index fibers from the kNN graph.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each neighbourhood as an index fiber plus all its nearest neighbours — a small, overlapping local patch of the manifold.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Neighbourhoods overlap: a boundary fiber contributes evidence to all the neighbourhoods it belongs to. No information is discarded.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— Three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" y="914400"/>
            <a:ext cx="76809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26187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9875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08760" y="1298448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kNN graph built for UMAP. Each sample is a node; edges connect samples to their k nearest neighbors in PC space. Key params: k = 30, d = 20 (same graph shared across UMAP, clustering, and MILO).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1480" y="2304288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1148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05840" y="2103120"/>
            <a:ext cx="76809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45059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17627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Sampling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508760" y="2487168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select ~10% of samples as index nodes (prop = 0.1). Each neighbourhood = index samples + its kNN. refined = TRUE prefers dense regions, avoiding outlier-driven sparse neighbourhoods.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1480" y="3493008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41148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005840" y="3291840"/>
            <a:ext cx="76809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639312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3649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&amp; Testing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508760" y="3675888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samples per subject (subject × time × fiber_type) per neighbourhood → count matrix. Negative-binomial GLM tests whether condition composition shifts — same logic as DESeq2/edgeR, applied to occupancy counts.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11480" y="4626864"/>
            <a:ext cx="8275320" cy="384048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/>
          <p:nvPr/>
        </p:nvSpPr>
        <p:spPr>
          <a:xfrm>
            <a:off x="548640" y="4645152"/>
            <a:ext cx="8001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SpatialFDR (not BH): neighbourhoods overlap → correlated p-values. SpatialFDR down-weights highly connected neighbourhoods to account for redundancy.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— Three Contrasts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kNN graph, three different statistical questions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275320" cy="1097280"/>
          </a:xfrm>
          <a:prstGeom prst="rect">
            <a:avLst/>
          </a:prstGeom>
          <a:solidFill>
            <a:srgbClr val="E0F2F1"/>
          </a:solidFill>
          <a:ln w="254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234440" cy="10972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da_time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2070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14600" y="1188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subject_id + fiber_type + time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15087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14600" y="1490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implicit: post − pre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18288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overall distribution shift after exercise, averaged across both fiber types?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350008"/>
            <a:ext cx="8275320" cy="1097280"/>
          </a:xfrm>
          <a:prstGeom prst="rect">
            <a:avLst/>
          </a:prstGeom>
          <a:solidFill>
            <a:srgbClr val="F4F8F8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11480" y="2350008"/>
            <a:ext cx="123444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11480" y="2350008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da_fast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45973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2441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0 + group + subject_id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27614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14600" y="27432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groupfast_post − groupfast_pre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308152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post − pre shift exist within fast fibers specifically?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602736"/>
            <a:ext cx="8275320" cy="1097280"/>
          </a:xfrm>
          <a:prstGeom prst="rect">
            <a:avLst/>
          </a:prstGeom>
          <a:solidFill>
            <a:srgbClr val="F4F8F8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11480" y="3602736"/>
            <a:ext cx="123444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11480" y="3602736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da_slow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371246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14600" y="36941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D21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0 + group + subject_id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401421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14600" y="39959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groupslow_post − groupslow_pre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433425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post − pre shift exist within slow fibers specifically?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— Reading the Output &amp; Common Traps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41148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841248"/>
            <a:ext cx="41148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plotNhoodGraphDA: how to read it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350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075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neighbourhood, positioned at its index fiber's UMAP coordinate.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208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9933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color = log fold change (post/pre). Red = more fibers post; blue = fewer.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0662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26791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spatial pattern → effect is specific to that proteomic region.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39242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3649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Cross-check: da_fast dots should sit in the fast-dominant UMAP region.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078224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60120" y="405079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SpatialFDR &lt; 0.1 threshold is intentionally lenient — accounts for conservative spatial correction.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709160" y="841248"/>
            <a:ext cx="39776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04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1"/>
          <p:cNvSpPr/>
          <p:nvPr/>
        </p:nvSpPr>
        <p:spPr>
          <a:xfrm>
            <a:off x="4709160" y="841248"/>
            <a:ext cx="3977640" cy="34747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2"/>
          <p:cNvSpPr/>
          <p:nvPr/>
        </p:nvSpPr>
        <p:spPr>
          <a:xfrm>
            <a:off x="4846320" y="841248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conceptual traps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33502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129844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Neighbourhoods ≠ clusters. MILO's overlapping patches are not the Louvain hard clusters used for fiber-type labelling.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203704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12080" y="216712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neighbourhood ≠ DEP. MILO tests abundance (how many fibers), not expression. Use Stage 2 GAM for which proteins change.</a:t>
            </a:r>
            <a:endParaRPr lang="en-US" sz="10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072384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12080" y="303580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 can detect shifts even when no single protein is significant — many small correlated changes can move fibers to a new neighbourhood.</a:t>
            </a:r>
            <a:endParaRPr lang="en-US" sz="1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941064"/>
            <a:ext cx="256032" cy="25603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12080" y="390448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definition matters. We use subject × time × fiber_type to avoid confounding biology with biopsy sampling variation.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4DB6AC">
              <a:alpha val="15000"/>
            </a:srgbClr>
          </a:solidFill>
          <a:ln w="12700">
            <a:solidFill>
              <a:srgbClr val="4DB6AC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9436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1005840" cy="7498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37360" y="1005840"/>
            <a:ext cx="69951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874520" y="1024128"/>
            <a:ext cx="6720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interpretable axes. PC1 = fiber type (dominant variance). PC3 ≈ time. Loadings → GSEA. Scores → statistical models.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984248"/>
            <a:ext cx="1005840" cy="7498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94360" y="198424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1984248"/>
            <a:ext cx="69951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874520" y="2002536"/>
            <a:ext cx="6720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Non-linear, topology-preserving map. Reveals discrete populations PCA smears. Distances and sizes are NOT quantitative. Stochastic — always set.seed().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2962656"/>
            <a:ext cx="1005840" cy="7498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94360" y="296265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37360" y="2962656"/>
            <a:ext cx="69951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874520" y="2980944"/>
            <a:ext cx="6720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fiber distribution across proteomic states changes between conditions. Overlapping neighbourhoods avoid hard-cluster information loss. SpatialFDR corrects for correlated tests.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3941064"/>
            <a:ext cx="1005840" cy="7498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94360" y="3941064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737360" y="3941064"/>
            <a:ext cx="699516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874520" y="3959352"/>
            <a:ext cx="6720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denoises → UMAP visualises → MILO tests. Each answers a different question; they do not replace each other.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DDEA Proteomics Course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1162</Words>
  <Application>Microsoft Office PowerPoint</Application>
  <PresentationFormat>On-screen Show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Dimensionality Reduction &amp; Differential Abundance in Proteomics</dc:title>
  <dc:subject>PptxGenJS Presentation</dc:subject>
  <dc:creator>PptxGenJS</dc:creator>
  <cp:lastModifiedBy>Roger Moreno Justicia</cp:lastModifiedBy>
  <cp:revision>2</cp:revision>
  <dcterms:created xsi:type="dcterms:W3CDTF">2026-06-03T06:45:17Z</dcterms:created>
  <dcterms:modified xsi:type="dcterms:W3CDTF">2026-06-03T06:56:57Z</dcterms:modified>
</cp:coreProperties>
</file>