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7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62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9646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7132320" y="-457200"/>
            <a:ext cx="3200400" cy="3200400"/>
          </a:xfrm>
          <a:prstGeom prst="ellipse">
            <a:avLst/>
          </a:prstGeom>
          <a:solidFill>
            <a:srgbClr val="00897B">
              <a:alpha val="15000"/>
            </a:srgbClr>
          </a:solidFill>
          <a:ln w="12700">
            <a:solidFill>
              <a:srgbClr val="00897B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7772400" y="2286000"/>
            <a:ext cx="2011680" cy="2011680"/>
          </a:xfrm>
          <a:prstGeom prst="ellipse">
            <a:avLst/>
          </a:prstGeom>
          <a:solidFill>
            <a:srgbClr val="4DB6AC">
              <a:alpha val="20000"/>
            </a:srgbClr>
          </a:solidFill>
          <a:ln w="12700">
            <a:solidFill>
              <a:srgbClr val="4DB6A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94360" y="1005840"/>
            <a:ext cx="6858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Dimensionality Reduction</a:t>
            </a:r>
            <a:endParaRPr lang="en-US" sz="3800" dirty="0"/>
          </a:p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Differential Abundance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94360" y="274320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4DB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UMAP · MILO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33832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DDEA Proteomics Course — Hands-On Tutorial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4480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Muscle Fiber Proteomics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Intensities to Biology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complementary methods, one analytical pipeline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02825" y="2103120"/>
            <a:ext cx="1737360" cy="1463040"/>
          </a:xfrm>
          <a:prstGeom prst="rect">
            <a:avLst/>
          </a:prstGeom>
          <a:solidFill>
            <a:srgbClr val="ECEFF1"/>
          </a:solidFill>
          <a:ln w="12700">
            <a:solidFill>
              <a:srgbClr val="ECEFF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802825" y="2240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Intensity Matrix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2825" y="28803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proteins × fibers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log2, normalized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58473" y="2834640"/>
            <a:ext cx="192024" cy="0"/>
          </a:xfrm>
          <a:prstGeom prst="line">
            <a:avLst/>
          </a:prstGeom>
          <a:noFill/>
          <a:ln w="254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6"/>
          <p:cNvSpPr/>
          <p:nvPr/>
        </p:nvSpPr>
        <p:spPr>
          <a:xfrm>
            <a:off x="2768785" y="2103120"/>
            <a:ext cx="1737360" cy="146304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2768785" y="2240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2768785" y="28803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decomposition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scores + loadings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24433" y="2834640"/>
            <a:ext cx="192024" cy="0"/>
          </a:xfrm>
          <a:prstGeom prst="line">
            <a:avLst/>
          </a:prstGeom>
          <a:noFill/>
          <a:ln w="254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0"/>
          <p:cNvSpPr/>
          <p:nvPr/>
        </p:nvSpPr>
        <p:spPr>
          <a:xfrm>
            <a:off x="4734745" y="2103120"/>
            <a:ext cx="1737360" cy="146304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Text 11"/>
          <p:cNvSpPr/>
          <p:nvPr/>
        </p:nvSpPr>
        <p:spPr>
          <a:xfrm>
            <a:off x="4734745" y="2240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UMAP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734745" y="28803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 embedding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fiber-state map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490393" y="2834640"/>
            <a:ext cx="192024" cy="0"/>
          </a:xfrm>
          <a:prstGeom prst="line">
            <a:avLst/>
          </a:prstGeom>
          <a:noFill/>
          <a:ln w="254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4"/>
          <p:cNvSpPr/>
          <p:nvPr/>
        </p:nvSpPr>
        <p:spPr>
          <a:xfrm>
            <a:off x="6700705" y="2103120"/>
            <a:ext cx="1737360" cy="146304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Text 15"/>
          <p:cNvSpPr/>
          <p:nvPr/>
        </p:nvSpPr>
        <p:spPr>
          <a:xfrm>
            <a:off x="6700705" y="2240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MILO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6700705" y="28803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Neighbourhood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abundance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457200" y="387014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denoises → UMAP visualises → MILO tests. Each step builds on the previous.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Arrow: Bent 17">
            <a:extLst>
              <a:ext uri="{FF2B5EF4-FFF2-40B4-BE49-F238E27FC236}">
                <a16:creationId xmlns:a16="http://schemas.microsoft.com/office/drawing/2014/main" id="{436826A3-FDC9-47F0-8F54-76F7FB9B1E11}"/>
              </a:ext>
            </a:extLst>
          </p:cNvPr>
          <p:cNvSpPr/>
          <p:nvPr/>
        </p:nvSpPr>
        <p:spPr>
          <a:xfrm rot="5400000">
            <a:off x="5389880" y="292101"/>
            <a:ext cx="764539" cy="2872740"/>
          </a:xfrm>
          <a:prstGeom prst="bentArrow">
            <a:avLst/>
          </a:prstGeom>
          <a:solidFill>
            <a:srgbClr val="0F8A7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— How It Works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14400"/>
            <a:ext cx="4114800" cy="1097280"/>
          </a:xfrm>
          <a:prstGeom prst="rect">
            <a:avLst/>
          </a:prstGeom>
          <a:solidFill>
            <a:srgbClr val="F4F8F8"/>
          </a:solidFill>
          <a:ln w="12700">
            <a:solidFill>
              <a:srgbClr val="ECEFF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07008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10058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05840" y="13258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Proteins × fibers matrix (transposed for prcomp)</a:t>
            </a: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protein scaled to unit variance (scale. = TRUE)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862359" y="2167128"/>
            <a:ext cx="4114800" cy="1097280"/>
          </a:xfrm>
          <a:prstGeom prst="rect">
            <a:avLst/>
          </a:prstGeom>
          <a:solidFill>
            <a:srgbClr val="F4F8F8"/>
          </a:solidFill>
          <a:ln w="12700">
            <a:solidFill>
              <a:srgbClr val="ECEFF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9519" y="2459736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56719" y="225856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PCA finds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456719" y="2578608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axes (PCs) ordered by variance explained.</a:t>
            </a: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 = direction of maximum spread across all proteins.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11480" y="3419856"/>
            <a:ext cx="4114800" cy="1097280"/>
          </a:xfrm>
          <a:prstGeom prst="rect">
            <a:avLst/>
          </a:prstGeom>
          <a:solidFill>
            <a:srgbClr val="F4F8F8"/>
          </a:solidFill>
          <a:ln w="12700">
            <a:solidFill>
              <a:srgbClr val="ECEFF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712464"/>
            <a:ext cx="347472" cy="34747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05840" y="351129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outputs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1005840" y="3831336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pca_res$x — scores: where each fiber sits on each PC</a:t>
            </a: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pca_res$rotation — loadings: protein contributions to each PC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411480" y="4663440"/>
            <a:ext cx="8275320" cy="347472"/>
          </a:xfrm>
          <a:prstGeom prst="rect">
            <a:avLst/>
          </a:prstGeom>
          <a:solidFill>
            <a:srgbClr val="FBE9E7"/>
          </a:solidFill>
          <a:ln w="12700">
            <a:solidFill>
              <a:srgbClr val="FF704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2"/>
          <p:cNvSpPr/>
          <p:nvPr/>
        </p:nvSpPr>
        <p:spPr>
          <a:xfrm>
            <a:off x="502920" y="4690872"/>
            <a:ext cx="8092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7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Key assumption: PCA is linear. Non-linear structure may be smeared — motivation for UMAP.</a:t>
            </a:r>
            <a:endParaRPr lang="en-US" sz="1050" dirty="0"/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3F79B18D-276B-4A47-9F7F-825EE996C8DC}"/>
              </a:ext>
            </a:extLst>
          </p:cNvPr>
          <p:cNvSpPr/>
          <p:nvPr/>
        </p:nvSpPr>
        <p:spPr>
          <a:xfrm rot="10800000">
            <a:off x="4549139" y="3256787"/>
            <a:ext cx="2599219" cy="964693"/>
          </a:xfrm>
          <a:prstGeom prst="bentArrow">
            <a:avLst/>
          </a:prstGeom>
          <a:solidFill>
            <a:srgbClr val="0F8A7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8945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UMAP — How It Works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14400"/>
            <a:ext cx="4023360" cy="20574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94360" y="1005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DB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Graph Construction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sample, find its k nearest neighbors in PC space (not raw protein space — PCs denoise first).</a:t>
            </a:r>
            <a:endParaRPr lang="en-US" sz="1050" dirty="0"/>
          </a:p>
          <a:p>
            <a:pPr marL="0" indent="0" algn="l">
              <a:buNone/>
            </a:pP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fuzzy weighted graph: close neighbors get high edge weights; distant ones get low weights.</a:t>
            </a:r>
            <a:endParaRPr lang="en-US" sz="1050" dirty="0"/>
          </a:p>
          <a:p>
            <a:pPr marL="0" indent="0" algn="l">
              <a:buNone/>
            </a:pP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n.neighbors controls neighborhood size — local vs. global trade-off.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914400"/>
            <a:ext cx="4023360" cy="20574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4846320" y="1005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DB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2D Layout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4632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2D arrangement that preserves the graph structure as well as possible.</a:t>
            </a:r>
            <a:endParaRPr lang="en-US" sz="1050" dirty="0"/>
          </a:p>
          <a:p>
            <a:pPr marL="0" indent="0" algn="l">
              <a:buNone/>
            </a:pP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Optimised by gradient descent (minimising cross-entropy between high-D and 2D fuzzy graphs).</a:t>
            </a:r>
            <a:endParaRPr lang="en-US" sz="1050" dirty="0"/>
          </a:p>
          <a:p>
            <a:pPr marL="0" indent="0" algn="l">
              <a:buNone/>
            </a:pP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samples that were neighbors in PC space land near each other in 2D.</a:t>
            </a:r>
            <a:endParaRPr lang="en-US" sz="105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1737360"/>
            <a:ext cx="256032" cy="25603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11480" y="3200400"/>
            <a:ext cx="2651760" cy="1691640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521208" y="3291840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21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n.neighbors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21208" y="3657600"/>
            <a:ext cx="2432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(5) → fragmented islands, local detail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(100) → smooth, global, PCA-like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91840" y="3200400"/>
            <a:ext cx="2651760" cy="1691640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Text 12"/>
          <p:cNvSpPr/>
          <p:nvPr/>
        </p:nvSpPr>
        <p:spPr>
          <a:xfrm>
            <a:off x="3401568" y="3291840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21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dims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401568" y="3657600"/>
            <a:ext cx="2432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PCs feed into the graph.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scree plot to pick — stop where variance flattens.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172200" y="3200400"/>
            <a:ext cx="2651760" cy="1691640"/>
          </a:xfrm>
          <a:prstGeom prst="rect">
            <a:avLst/>
          </a:prstGeom>
          <a:solidFill>
            <a:srgbClr val="FBE9E7"/>
          </a:solidFill>
          <a:ln w="12700">
            <a:solidFill>
              <a:srgbClr val="00897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6281928" y="3291840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21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set.seed()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81928" y="3657600"/>
            <a:ext cx="2432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UMAP is stochastic. Topology is fixed; the 2D rotation is not.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set seed for reproducibility.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UMAP — What the Plot Can and Cannot Tell You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68680"/>
            <a:ext cx="3931920" cy="4041648"/>
          </a:xfrm>
          <a:prstGeom prst="rect">
            <a:avLst/>
          </a:prstGeom>
          <a:solidFill>
            <a:srgbClr val="FFFFFF"/>
          </a:solidFill>
          <a:ln w="19050">
            <a:solidFill>
              <a:srgbClr val="00897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411480" y="868680"/>
            <a:ext cx="3931920" cy="36576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UMAP CAN tell you</a:t>
            </a:r>
            <a:endParaRPr lang="en-US" sz="12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89888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13533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 discrete sub-populations that PCA shows only as gradients</a:t>
            </a:r>
            <a:endParaRPr lang="en-US" sz="10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12848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14400" y="21762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which samples are proteomically similar (local neighborhoods)</a:t>
            </a:r>
            <a:endParaRPr lang="en-US" sz="10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35808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14400" y="299923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fiber-type clusters using marker proteins (MYH7, MYH2, ACTN3)</a:t>
            </a:r>
            <a:endParaRPr lang="en-US" sz="10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58768"/>
            <a:ext cx="256032" cy="25603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14400" y="38221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clustering (Louvain on kNN graph) and downstream MILO testing</a:t>
            </a:r>
            <a:endParaRPr 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4754880" y="868680"/>
            <a:ext cx="3931920" cy="4041648"/>
          </a:xfrm>
          <a:prstGeom prst="rect">
            <a:avLst/>
          </a:prstGeom>
          <a:solidFill>
            <a:srgbClr val="FFFFFF"/>
          </a:solidFill>
          <a:ln w="19050">
            <a:solidFill>
              <a:srgbClr val="FF7043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Shape 10"/>
          <p:cNvSpPr/>
          <p:nvPr/>
        </p:nvSpPr>
        <p:spPr>
          <a:xfrm>
            <a:off x="4754880" y="868680"/>
            <a:ext cx="3931920" cy="365760"/>
          </a:xfrm>
          <a:prstGeom prst="rect">
            <a:avLst/>
          </a:prstGeom>
          <a:solidFill>
            <a:srgbClr val="FF7043"/>
          </a:solidFill>
          <a:ln w="12700">
            <a:solidFill>
              <a:srgbClr val="FF704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1"/>
          <p:cNvSpPr/>
          <p:nvPr/>
        </p:nvSpPr>
        <p:spPr>
          <a:xfrm>
            <a:off x="4892040" y="868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UMAP CANNOT tell you</a:t>
            </a:r>
            <a:endParaRPr lang="en-US" sz="12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389888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257800" y="13533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Distances between clusters are NOT quantitative — far apart ≠ globally different</a:t>
            </a:r>
            <a:endParaRPr lang="en-US" sz="105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212848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257800" y="21762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size does NOT reflect abundance — large ≠ more common</a:t>
            </a:r>
            <a:endParaRPr lang="en-US" sz="1050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35808"/>
            <a:ext cx="256032" cy="256032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5257800" y="299923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values have no biological meaning (not PCs, not concentrations)</a:t>
            </a:r>
            <a:endParaRPr lang="en-US" sz="105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858768"/>
            <a:ext cx="256032" cy="25603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5257800" y="38221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UMAP plots with different parameters are NOT directly comparable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MILO — The Core Question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841248"/>
            <a:ext cx="8275320" cy="65836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7909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distribution of samples across proteomic states change between conditions?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1480" y="1691640"/>
            <a:ext cx="3931920" cy="3246120"/>
          </a:xfrm>
          <a:prstGeom prst="rect">
            <a:avLst/>
          </a:prstGeom>
          <a:solidFill>
            <a:srgbClr val="FBE9E7"/>
          </a:solidFill>
          <a:ln w="19050">
            <a:solidFill>
              <a:srgbClr val="FF7043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548640" y="18013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7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just count samples per cluster?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240280"/>
            <a:ext cx="3611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clustering forces a binary decision.</a:t>
            </a:r>
            <a:endParaRPr lang="en-US" sz="1050" dirty="0"/>
          </a:p>
          <a:p>
            <a:pPr marL="0" indent="0" algn="l">
              <a:buNone/>
            </a:pP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fiber sitting on the boundary between slow and fast gets assigned to one cluster — its evidence is lost to the other.</a:t>
            </a:r>
            <a:endParaRPr lang="en-US" sz="1050" dirty="0"/>
          </a:p>
          <a:p>
            <a:pPr marL="0" indent="0" algn="l">
              <a:buNone/>
            </a:pP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fibers are often the most biologically interesting: they may represent transitional states induced by training.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54880" y="1691640"/>
            <a:ext cx="3931920" cy="3246120"/>
          </a:xfrm>
          <a:prstGeom prst="rect">
            <a:avLst/>
          </a:prstGeom>
          <a:solidFill>
            <a:srgbClr val="E0F2F1"/>
          </a:solidFill>
          <a:ln w="19050">
            <a:solidFill>
              <a:srgbClr val="00897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892040" y="18013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MILO's solution: neighbourhoods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92040" y="2240280"/>
            <a:ext cx="3611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index fibers from the kNN graph.</a:t>
            </a:r>
            <a:endParaRPr lang="en-US" sz="1050" dirty="0"/>
          </a:p>
          <a:p>
            <a:pPr marL="0" indent="0" algn="l">
              <a:buNone/>
            </a:pP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each neighbourhood as an index fiber plus all its nearest neighbours — a small, overlapping local patch of the manifold.</a:t>
            </a:r>
            <a:endParaRPr lang="en-US" sz="1050" dirty="0"/>
          </a:p>
          <a:p>
            <a:pPr marL="0" indent="0" algn="l">
              <a:buNone/>
            </a:pP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Neighbourhoods overlap: a boundary fiber contributes evidence to all the neighbourhoods it belongs to. No information is discarded.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MILO — Three Steps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457200" cy="45720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11480" y="1115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05840" y="914400"/>
            <a:ext cx="7680960" cy="1051560"/>
          </a:xfrm>
          <a:prstGeom prst="rect">
            <a:avLst/>
          </a:prstGeom>
          <a:solidFill>
            <a:srgbClr val="F4F8F8"/>
          </a:solidFill>
          <a:ln w="12700">
            <a:solidFill>
              <a:srgbClr val="ECEFF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1261872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9875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Construction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508760" y="1298448"/>
            <a:ext cx="7040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the kNN graph built for UMAP. Each sample is a node; edges connect samples to their k nearest neighbors in PC space. Key params: k = 30, d = 20 (same graph shared across UMAP, clustering, and MILO).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11480" y="2304288"/>
            <a:ext cx="457200" cy="45720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411480" y="2304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005840" y="2103120"/>
            <a:ext cx="7680960" cy="1051560"/>
          </a:xfrm>
          <a:prstGeom prst="rect">
            <a:avLst/>
          </a:prstGeom>
          <a:solidFill>
            <a:srgbClr val="F4F8F8"/>
          </a:solidFill>
          <a:ln w="12700">
            <a:solidFill>
              <a:srgbClr val="ECEFF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2450592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508760" y="217627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Neighbourhood Sampling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508760" y="2487168"/>
            <a:ext cx="7040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Randomly select ~10% of samples as index nodes (prop = 0.1). Each neighbourhood = index samples + its kNN. refined = TRUE prefers dense regions, avoiding outlier-driven sparse neighbourhoods.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11480" y="3493008"/>
            <a:ext cx="457200" cy="45720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3"/>
          <p:cNvSpPr/>
          <p:nvPr/>
        </p:nvSpPr>
        <p:spPr>
          <a:xfrm>
            <a:off x="41148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1005840" y="3291840"/>
            <a:ext cx="7680960" cy="1051560"/>
          </a:xfrm>
          <a:prstGeom prst="rect">
            <a:avLst/>
          </a:prstGeom>
          <a:solidFill>
            <a:srgbClr val="F4F8F8"/>
          </a:solidFill>
          <a:ln w="12700">
            <a:solidFill>
              <a:srgbClr val="ECEFF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5568" y="3639312"/>
            <a:ext cx="292608" cy="29260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08760" y="336499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&amp; Testing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1508760" y="3675888"/>
            <a:ext cx="7040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samples per subject (subject × time × fiber_type) per neighbourhood → count matrix. Negative-binomial GLM tests whether condition composition shifts — same logic as DESeq2/edgeR, applied to occupancy counts.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11480" y="4626864"/>
            <a:ext cx="8275320" cy="384048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18"/>
          <p:cNvSpPr/>
          <p:nvPr/>
        </p:nvSpPr>
        <p:spPr>
          <a:xfrm>
            <a:off x="548640" y="4645152"/>
            <a:ext cx="8001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SpatialFDR (not BH): neighbourhoods overlap → correlated p-values. SpatialFDR down-weights highly connected neighbourhoods to account for redundancy.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MILO — Three Contrasts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7132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kNN graph, three different statistical questions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8275320" cy="1097280"/>
          </a:xfrm>
          <a:prstGeom prst="rect">
            <a:avLst/>
          </a:prstGeom>
          <a:solidFill>
            <a:srgbClr val="E0F2F1"/>
          </a:solidFill>
          <a:ln w="25400">
            <a:solidFill>
              <a:srgbClr val="00897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11480" y="1097280"/>
            <a:ext cx="1234440" cy="10972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11480" y="1097280"/>
            <a:ext cx="1234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da_time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783080" y="120700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Formula: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514600" y="11887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D21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 subject_id + fiber_type + time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783080" y="150876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Contrast: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514600" y="149047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089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implicit: post − pre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783080" y="182880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overall distribution shift after exercise, averaged across both fiber types?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350008"/>
            <a:ext cx="8275320" cy="1097280"/>
          </a:xfrm>
          <a:prstGeom prst="rect">
            <a:avLst/>
          </a:prstGeom>
          <a:solidFill>
            <a:srgbClr val="F4F8F8"/>
          </a:solidFill>
          <a:ln w="12700">
            <a:solidFill>
              <a:srgbClr val="0D2137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11480" y="2350008"/>
            <a:ext cx="1234440" cy="109728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11480" y="2350008"/>
            <a:ext cx="1234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da_fast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783080" y="2459736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Formula: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514600" y="24414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D21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 0 + group + subject_id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276148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Contrast: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514600" y="27432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089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groupfast_post − groupfast_pre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783080" y="3081528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post − pre shift exist within fast fibers specifically?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3602736"/>
            <a:ext cx="8275320" cy="1097280"/>
          </a:xfrm>
          <a:prstGeom prst="rect">
            <a:avLst/>
          </a:prstGeom>
          <a:solidFill>
            <a:srgbClr val="F4F8F8"/>
          </a:solidFill>
          <a:ln w="12700">
            <a:solidFill>
              <a:srgbClr val="0D2137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11480" y="3602736"/>
            <a:ext cx="1234440" cy="109728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11480" y="3602736"/>
            <a:ext cx="1234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da_slow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783080" y="3712464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514600" y="369417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D21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 0 + group + subject_id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783080" y="4014216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Contrast: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514600" y="39959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089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groupslow_post − groupslow_pre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783080" y="4334256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post − pre shift exist within slow fibers specifically?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MILO — Reading the Output &amp; Common Traps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841248"/>
            <a:ext cx="411480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97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411480" y="841248"/>
            <a:ext cx="4114800" cy="347472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48640" y="8412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plotNhoodGraphDA: how to read it</a:t>
            </a:r>
            <a:endParaRPr lang="en-US" sz="11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350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07592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dot = one neighbourhood, positioned at its index fiber's UMAP coordinate.</a:t>
            </a:r>
            <a:endParaRPr lang="en-US" sz="10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020824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1993392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 color = log fold change (post/pre). Red = more fibers post; blue = fewer.</a:t>
            </a:r>
            <a:endParaRPr lang="en-US" sz="10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706624"/>
            <a:ext cx="274320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60120" y="2679192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Coherent spatial pattern → effect is specific to that proteomic region.</a:t>
            </a:r>
            <a:endParaRPr lang="en-US" sz="10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392424"/>
            <a:ext cx="274320" cy="2743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60120" y="3364992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Cross-check: da_fast dots should sit in the fast-dominant UMAP region.</a:t>
            </a:r>
            <a:endParaRPr lang="en-US" sz="10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078224"/>
            <a:ext cx="274320" cy="27432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960120" y="4050792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SpatialFDR &lt; 0.1 threshold is intentionally lenient — accounts for conservative spatial correction.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4709160" y="841248"/>
            <a:ext cx="397764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7043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1"/>
          <p:cNvSpPr/>
          <p:nvPr/>
        </p:nvSpPr>
        <p:spPr>
          <a:xfrm>
            <a:off x="4709160" y="841248"/>
            <a:ext cx="3977640" cy="347472"/>
          </a:xfrm>
          <a:prstGeom prst="rect">
            <a:avLst/>
          </a:prstGeom>
          <a:solidFill>
            <a:srgbClr val="FF7043"/>
          </a:solidFill>
          <a:ln w="12700">
            <a:solidFill>
              <a:srgbClr val="FF704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2"/>
          <p:cNvSpPr/>
          <p:nvPr/>
        </p:nvSpPr>
        <p:spPr>
          <a:xfrm>
            <a:off x="4846320" y="841248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conceptual traps</a:t>
            </a:r>
            <a:endParaRPr lang="en-US" sz="11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133502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212080" y="1298448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Neighbourhoods ≠ clusters. MILO's overlapping patches are not the Louvain hard clusters used for fiber-type labelling.</a:t>
            </a:r>
            <a:endParaRPr lang="en-US" sz="1000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2203704"/>
            <a:ext cx="256032" cy="256032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5212080" y="2167128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neighbourhood ≠ DEP. MILO tests abundance (how many fibers), not expression. Use Stage 2 GAM for which proteins change.</a:t>
            </a:r>
            <a:endParaRPr lang="en-US" sz="100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3072384"/>
            <a:ext cx="256032" cy="25603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5212080" y="3035808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MILO can detect shifts even when no single protein is significant — many small correlated changes can move fibers to a new neighbourhood.</a:t>
            </a:r>
            <a:endParaRPr lang="en-US" sz="1000" dirty="0"/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3941064"/>
            <a:ext cx="256032" cy="256032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5212080" y="3904488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definition matters. We use subject × time × fiber_type to avoid confounding biology with biopsy sampling variation.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731520"/>
            <a:ext cx="3657600" cy="3657600"/>
          </a:xfrm>
          <a:prstGeom prst="ellipse">
            <a:avLst/>
          </a:prstGeom>
          <a:solidFill>
            <a:srgbClr val="00897B">
              <a:alpha val="12000"/>
            </a:srgbClr>
          </a:solidFill>
          <a:ln w="12700">
            <a:solidFill>
              <a:srgbClr val="00897B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-914400" y="3200400"/>
            <a:ext cx="2743200" cy="2743200"/>
          </a:xfrm>
          <a:prstGeom prst="ellipse">
            <a:avLst/>
          </a:prstGeom>
          <a:solidFill>
            <a:srgbClr val="4DB6AC">
              <a:alpha val="15000"/>
            </a:srgbClr>
          </a:solidFill>
          <a:ln w="12700">
            <a:solidFill>
              <a:srgbClr val="4DB6AC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94360" y="1005840"/>
            <a:ext cx="1005840" cy="74980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1005840"/>
            <a:ext cx="1005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737360" y="1005840"/>
            <a:ext cx="6995160" cy="749808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874520" y="1024128"/>
            <a:ext cx="6720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Linear, interpretable axes. PC1 = fiber type (dominant variance). PC3 ≈ time. Loadings → GSEA. Scores → statistical models.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1984248"/>
            <a:ext cx="1005840" cy="74980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94360" y="1984248"/>
            <a:ext cx="1005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737360" y="1984248"/>
            <a:ext cx="6995160" cy="749808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874520" y="2002536"/>
            <a:ext cx="6720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Non-linear, topology-preserving map. Reveals discrete populations PCA smears. Distances and sizes are NOT quantitative. Stochastic — always set.seed().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2962656"/>
            <a:ext cx="1005840" cy="74980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594360" y="2962656"/>
            <a:ext cx="1005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737360" y="2962656"/>
            <a:ext cx="6995160" cy="749808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874520" y="2980944"/>
            <a:ext cx="6720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whether fiber distribution across proteomic states changes between conditions. Overlapping neighbourhoods avoid hard-cluster information loss. SpatialFDR corrects for correlated tests.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3941064"/>
            <a:ext cx="1005840" cy="74980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594360" y="3941064"/>
            <a:ext cx="1005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737360" y="3941064"/>
            <a:ext cx="6995160" cy="749808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874520" y="3959352"/>
            <a:ext cx="6720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denoises → UMAP visualises → MILO tests. Each answers a different question; they do not replace each other.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94360" y="48006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DDEA Proteomics Course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E86CAE9-3DEA-4231-B6AA-9C8C907F9A7B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b4a3b6f7-4fb3-4d5e-819e-ad74007ded3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1162</Words>
  <Application>Microsoft Office PowerPoint</Application>
  <PresentationFormat>On-screen Show (16:9)</PresentationFormat>
  <Paragraphs>142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Dimensionality Reduction &amp; Differential Abundance in Proteomics</dc:title>
  <dc:subject>PptxGenJS Presentation</dc:subject>
  <dc:creator>PptxGenJS</dc:creator>
  <cp:lastModifiedBy>Roger Moreno Justicia</cp:lastModifiedBy>
  <cp:revision>3</cp:revision>
  <dcterms:created xsi:type="dcterms:W3CDTF">2026-06-03T06:45:17Z</dcterms:created>
  <dcterms:modified xsi:type="dcterms:W3CDTF">2026-06-03T09:29:06Z</dcterms:modified>
</cp:coreProperties>
</file>